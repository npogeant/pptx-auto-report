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Apple</c:v>
                </c:pt>
              </c:strCache>
            </c:strRef>
          </c:tx>
          <c:spPr>
            <a:ln w="31750">
              <a:solidFill>
                <a:srgbClr val="2E75B6"/>
              </a:solidFill>
            </a:ln>
          </c:spPr>
          <c:marker>
            <c:symbol val="circle"/>
            <c:size val="6"/>
            <c:spPr>
              <a:solidFill>
                <a:srgbClr val="2E75B6"/>
              </a:solidFill>
              <a:ln>
                <a:noFill/>
              </a:ln>
            </c:spPr>
          </c:marker>
          <c:dLbls>
            <c:txPr>
              <a:bodyPr/>
              <a:lstStyle/>
              <a:p>
                <a:pPr>
                  <a:defRPr sz="1000">
                    <a:solidFill>
                      <a:srgbClr val="2E75B6"/>
                    </a:solidFill>
                    <a:latin typeface="Century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Jan 24</c:v>
                </c:pt>
                <c:pt idx="1">
                  <c:v>May 24</c:v>
                </c:pt>
                <c:pt idx="2">
                  <c:v>Jun 24</c:v>
                </c:pt>
                <c:pt idx="3">
                  <c:v>Jul 24</c:v>
                </c:pt>
                <c:pt idx="4">
                  <c:v>Aug 24</c:v>
                </c:pt>
                <c:pt idx="5">
                  <c:v>Sep 24</c:v>
                </c:pt>
                <c:pt idx="6">
                  <c:v>Oct 24</c:v>
                </c:pt>
                <c:pt idx="7">
                  <c:v>Nov 24</c:v>
                </c:pt>
                <c:pt idx="8">
                  <c:v>Dec 24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182</c:v>
                </c:pt>
                <c:pt idx="1">
                  <c:v>190</c:v>
                </c:pt>
                <c:pt idx="2">
                  <c:v>209</c:v>
                </c:pt>
                <c:pt idx="3">
                  <c:v>220</c:v>
                </c:pt>
                <c:pt idx="4">
                  <c:v>227</c:v>
                </c:pt>
                <c:pt idx="5">
                  <c:v>231</c:v>
                </c:pt>
                <c:pt idx="6">
                  <c:v>224</c:v>
                </c:pt>
                <c:pt idx="7">
                  <c:v>236</c:v>
                </c:pt>
                <c:pt idx="8">
                  <c:v>249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Nvidia</c:v>
                </c:pt>
              </c:strCache>
            </c:strRef>
          </c:tx>
          <c:spPr>
            <a:ln w="31750">
              <a:solidFill>
                <a:srgbClr val="ED7D31"/>
              </a:solidFill>
            </a:ln>
          </c:spPr>
          <c:marker>
            <c:symbol val="circle"/>
            <c:size val="6"/>
            <c:spPr>
              <a:solidFill>
                <a:srgbClr val="ED7D31"/>
              </a:solidFill>
              <a:ln>
                <a:noFill/>
              </a:ln>
            </c:spPr>
          </c:marker>
          <c:dLbls>
            <c:txPr>
              <a:bodyPr/>
              <a:lstStyle/>
              <a:p>
                <a:pPr>
                  <a:defRPr sz="1000">
                    <a:solidFill>
                      <a:srgbClr val="ED7D31"/>
                    </a:solidFill>
                    <a:latin typeface="Century Gothic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Jan 24</c:v>
                </c:pt>
                <c:pt idx="1">
                  <c:v>May 24</c:v>
                </c:pt>
                <c:pt idx="2">
                  <c:v>Jun 24</c:v>
                </c:pt>
                <c:pt idx="3">
                  <c:v>Jul 24</c:v>
                </c:pt>
                <c:pt idx="4">
                  <c:v>Aug 24</c:v>
                </c:pt>
                <c:pt idx="5">
                  <c:v>Sep 24</c:v>
                </c:pt>
                <c:pt idx="6">
                  <c:v>Oct 24</c:v>
                </c:pt>
                <c:pt idx="7">
                  <c:v>Nov 24</c:v>
                </c:pt>
                <c:pt idx="8">
                  <c:v>Dec 24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61</c:v>
                </c:pt>
                <c:pt idx="1">
                  <c:v>109</c:v>
                </c:pt>
                <c:pt idx="2">
                  <c:v>123</c:v>
                </c:pt>
                <c:pt idx="3">
                  <c:v>116</c:v>
                </c:pt>
                <c:pt idx="4">
                  <c:v>119</c:v>
                </c:pt>
                <c:pt idx="5">
                  <c:v>121</c:v>
                </c:pt>
                <c:pt idx="6">
                  <c:v>132</c:v>
                </c:pt>
                <c:pt idx="7">
                  <c:v>138</c:v>
                </c:pt>
                <c:pt idx="8">
                  <c:v>134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Century Gothic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/>
        <c:axPos val="l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828800"/>
            <a:ext cx="11274552" cy="762000"/>
          </a:xfrm>
        </p:spPr>
        <p:txBody>
          <a:bodyPr/>
          <a:lstStyle/>
          <a:p>
            <a:r>
              <a:rPr sz="4000" b="1">
                <a:solidFill>
                  <a:srgbClr val="000000"/>
                </a:solidFill>
                <a:latin typeface="Century Gothic"/>
              </a:rPr>
              <a:t>Automated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657600"/>
            <a:ext cx="11274552" cy="457200"/>
          </a:xfrm>
        </p:spPr>
        <p:txBody>
          <a:bodyPr/>
          <a:lstStyle/>
          <a:p>
            <a:r>
              <a:rPr sz="2400" b="0">
                <a:solidFill>
                  <a:srgbClr val="000000"/>
                </a:solidFill>
                <a:latin typeface="Century Gothic"/>
              </a:rPr>
              <a:t>Generated with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31520"/>
            <a:ext cx="11274552" cy="571500"/>
          </a:xfrm>
        </p:spPr>
        <p:txBody>
          <a:bodyPr/>
          <a:lstStyle/>
          <a:p>
            <a:r>
              <a:rPr sz="3000" b="1">
                <a:solidFill>
                  <a:srgbClr val="000000"/>
                </a:solidFill>
                <a:latin typeface="Century Gothic"/>
              </a:rPr>
              <a:t>Monthly Stock Prices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0" y="1828800"/>
            <a:ext cx="25877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2E75B6"/>
                </a:solidFill>
                <a:latin typeface="Century Gothic"/>
              </a:rPr>
              <a:t>+37%</a:t>
            </a:r>
          </a:p>
          <a:p>
            <a:pPr>
              <a:defRPr sz="1400" b="0">
                <a:solidFill>
                  <a:srgbClr val="2E75B6"/>
                </a:solidFill>
                <a:latin typeface="Century Gothic"/>
              </a:defRPr>
            </a:pPr>
            <a:r>
              <a:t>Apple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3931920"/>
            <a:ext cx="25877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ED7D31"/>
                </a:solidFill>
                <a:latin typeface="Century Gothic"/>
              </a:rPr>
              <a:t>+120%</a:t>
            </a:r>
          </a:p>
          <a:p>
            <a:pPr>
              <a:defRPr sz="1400" b="0">
                <a:solidFill>
                  <a:srgbClr val="ED7D31"/>
                </a:solidFill>
                <a:latin typeface="Century Gothic"/>
              </a:defRPr>
            </a:pPr>
            <a:r>
              <a:t>Nvidia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